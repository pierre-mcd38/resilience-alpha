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du projet et de l'équipe. Insister sur le fait que la preuve de reprise est une transaction métier, pas un simple redémarrage.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 disponibilité technique et disponibilité métier. Notre critère de fin d'incident est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séquence que nous montrerons en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Tir réel validé le 19/10/2026 depuis 192.168.137.135 (preuve : data/live_2pc_validation.json).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RAG est consultatif, le moteur de remédiation est déterministe. Ne pas les confondre.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Transparence : ne pas présenter la pile Compose comme démontrée en fonctionnement.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data/test_summary.json et data/live_storage_persistence_validation.json.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WAF seul ne détecte pas un flood de requêtes syntaxiquement valides : c'est le rôle du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données sont synthétiques mais variées (pics légitimes, erreurs 4xx bénignes, audits planifiés).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ml/artifacts/model_metadata.json. ROC AUC test 0,996. Inférence ~0,03 ms par fenêtre.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sécurité exécuteur : HMAC, anti-rejeu, allowlist, anti-shell, audit SHA-256 —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restauration de disponibilité ≠ résolution d'une compromission.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RAG aide l'opérateur à comprendre ; il ne décide ni n'exécute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Rester factuel : c'est une preuve de concept IoT, pas une biométrie de niveau bancaire.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Environ 2 min 30 de live. Pas de captures : tout est montré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mesures du 19/10 (MTTD 2 s) et du 22/10 (≈10 s) proviennent de configurations différentes ; ne pas les fusionner.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docs/governance/ebios-rm.md (ateliers 1 à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redémarrage de conteneur n'est pas un PCA.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docs/governance/nis2-dora-compliance.md. DORA = Règlement (UE) 2022/2554 ; NIS2 = Directive (UE) 2022/2555.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docs/known-limitations.md et data/test_summary.json.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Feuille de route détaillée : docs/governance/executive-recommendations.md.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sur les questions du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WORKSHOP NATIONAL EPSI BAC+5 — OCTOBRE 2026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PROJECT RESILIENCE-ALPHA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1F5F9"/>
                </a:solidFill>
              </a:defRPr>
            </a:pPr>
            <a:r>
              <a:t>Plateforme de paiement fictive capable de détecter une attaque applicative, de se remédier sans intervention humaine et de prouver sa reprise par une transaction métier réelle.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11064240" cy="731520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300" i="0">
                <a:solidFill>
                  <a:srgbClr val="F1F5F9"/>
                </a:solidFill>
              </a:defRPr>
            </a:pPr>
            <a:r>
              <a:t>Chaîne démontrée : T0 transaction réussie → T1 attaque depuis le PC Attaquant → T2 dégradation → T3 détection ML → T4 remédiation bornée → T5 nouvelle transaction vérifiée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133088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Groupe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53712"/>
            <a:ext cx="5065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sz="1300">
                <a:solidFill>
                  <a:srgbClr val="F1F5F9"/>
                </a:solidFill>
              </a:rPr>
              <a:t>Lenny BARRESI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sz="1300">
                <a:solidFill>
                  <a:srgbClr val="F1F5F9"/>
                </a:solidFill>
              </a:rPr>
              <a:t>Youssef HANSIL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sz="1300">
                <a:solidFill>
                  <a:srgbClr val="F1F5F9"/>
                </a:solidFill>
              </a:rPr>
              <a:t>Pierre MICHAUD-EYMOZ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sz="1300">
                <a:solidFill>
                  <a:srgbClr val="F1F5F9"/>
                </a:solidFill>
              </a:rPr>
              <a:t>Rohail ARSHAD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4133088"/>
            <a:ext cx="5065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Domaines du workshop couverts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553712"/>
            <a:ext cx="5065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Infrastructure &amp; automatisation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Cybersécurité offensive / défensive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IA : détection ML + assistant RAG local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Gouvernance : EBIOS RM, PCA/PRA, NIS2/DORA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IoT : authentification biométrique + ESP8266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1. CONTEXTE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Le problème : une API de paiement saturée sans être « en panne 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2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Ce qui se passe lors d'une attaque L7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5157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Cible : </a:t>
            </a:r>
            <a:r>
              <a:rPr sz="1300">
                <a:solidFill>
                  <a:srgbClr val="94A3B8"/>
                </a:solidFill>
              </a:rPr>
              <a:t>un endpoint coûteux en calcul, POST /api/v1/transactions/verify-batch.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Effet : </a:t>
            </a:r>
            <a:r>
              <a:rPr sz="1300">
                <a:solidFill>
                  <a:srgbClr val="94A3B8"/>
                </a:solidFill>
              </a:rPr>
              <a:t>les workers saturent, la latence P95 explose, les paiements légitimes échouent.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Piège : </a:t>
            </a:r>
            <a:r>
              <a:rPr sz="1300">
                <a:solidFill>
                  <a:srgbClr val="94A3B8"/>
                </a:solidFill>
              </a:rPr>
              <a:t>le processus reste vivant ; un contrôle /health peut encore répondre.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Conséquence métier : </a:t>
            </a:r>
            <a:r>
              <a:rPr sz="1300">
                <a:solidFill>
                  <a:srgbClr val="94A3B8"/>
                </a:solidFill>
              </a:rPr>
              <a:t>encaissements bloqués, partenaires impactés, risque d'incohérence lors des reprises.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64207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Notre exigence de preuve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84831"/>
            <a:ext cx="497433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Refus des faux rétablissements : </a:t>
            </a:r>
            <a:r>
              <a:rPr sz="1300">
                <a:solidFill>
                  <a:srgbClr val="94A3B8"/>
                </a:solidFill>
              </a:rPr>
              <a:t>un conteneur redémarré ou un /health à 200 ne suffisent pas.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État RECOVERED uniquement si : </a:t>
            </a:r>
            <a:r>
              <a:rPr sz="1300">
                <a:solidFill>
                  <a:srgbClr val="94A3B8"/>
                </a:solidFill>
              </a:rPr>
              <a:t>authentification JWT, clé d'idempotence unique, écriture atomique, relecture et cohérence des soldes en centimes.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Données 100 % fictives : </a:t>
            </a:r>
            <a:r>
              <a:rPr sz="1300">
                <a:solidFill>
                  <a:srgbClr val="94A3B8"/>
                </a:solidFill>
              </a:rPr>
              <a:t>aucune carte, aucun IBAN, aucun secret de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1. OBJECTIF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Chaîne de valeur obligatoire T0 → T5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3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645920" cy="137160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4D399"/>
                </a:solidFill>
              </a:rPr>
              <a:t>T0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Transaction
initiale réussie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514600"/>
            <a:ext cx="237744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32304" y="1828800"/>
            <a:ext cx="1645920" cy="137160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87171"/>
                </a:solidFill>
              </a:rPr>
              <a:t>T1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Attaque contrôlée
depuis PC Attaquant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78224" y="2514600"/>
            <a:ext cx="237744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15968" y="1828800"/>
            <a:ext cx="1645920" cy="137160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BBF24"/>
                </a:solidFill>
              </a:rPr>
              <a:t>T2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Dégradation
observable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1888" y="2514600"/>
            <a:ext cx="237743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99631" y="1828800"/>
            <a:ext cx="1645920" cy="137160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T3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Détection ML
Isolation Forest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45552" y="2514600"/>
            <a:ext cx="237744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83296" y="1828800"/>
            <a:ext cx="1645920" cy="137160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C4B5FD"/>
                </a:solidFill>
              </a:rPr>
              <a:t>T4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Remédiation
automatique bornée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29216" y="2514600"/>
            <a:ext cx="237744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60" y="1828800"/>
            <a:ext cx="1645920" cy="137160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4D399"/>
                </a:solidFill>
              </a:rPr>
              <a:t>T5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Nouvelle transaction
vérifiée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11064240" cy="24688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767328"/>
            <a:ext cx="10735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Ce que le démonstrateur doit prouver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187952"/>
            <a:ext cx="107350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Zero-Touch Recovery : </a:t>
            </a:r>
            <a:r>
              <a:rPr sz="1300">
                <a:solidFill>
                  <a:srgbClr val="94A3B8"/>
                </a:solidFill>
              </a:rPr>
              <a:t>aucune action humaine entre T1 et T5 ; l'automate décide et agit seul dans un périmètre borné.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Remédiation sûre : </a:t>
            </a:r>
            <a:r>
              <a:rPr sz="1300">
                <a:solidFill>
                  <a:srgbClr val="94A3B8"/>
                </a:solidFill>
              </a:rPr>
              <a:t>seul le service executor peut agir, sur une liste fermée d'actions signées HMAC.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Preuve métier : </a:t>
            </a:r>
            <a:r>
              <a:rPr sz="1300">
                <a:solidFill>
                  <a:srgbClr val="94A3B8"/>
                </a:solidFill>
              </a:rPr>
              <a:t>la reprise est actée par une transaction persistée et un invariant comptable vérifié.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Traçabilité : </a:t>
            </a:r>
            <a:r>
              <a:rPr sz="1300">
                <a:solidFill>
                  <a:srgbClr val="94A3B8"/>
                </a:solidFill>
              </a:rPr>
              <a:t>chaque décision et action est journalisée (chronologie SOC + journal d'audit chaîné SHA-256).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ENVIRONNEMENT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Banc d'essai physique à deux PC sur réseau isolé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4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146304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87171"/>
                </a:solidFill>
              </a:rPr>
              <a:t>PC Attaquant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192.168.137.135
console /attacker, script PowerShell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01168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BBF24"/>
                </a:solidFill>
              </a:rPr>
              <a:t>Point d'accès Wi-Fi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SSID RESILIENCE-G2
passerelle 192.168.137.1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297680" cy="2194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PC Hôte HDV0-INF-P08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Windows 11 Pro — Intel Core Ultra 9 185H — 31,4 Go RAM
Plateforme : WAF :8080, Centre SOC :3300
Ollama local (gemma4:e4b)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743200"/>
            <a:ext cx="914400" cy="0"/>
          </a:xfrm>
          <a:prstGeom prst="line">
            <a:avLst/>
          </a:prstGeom>
          <a:ln w="25400">
            <a:solidFill>
              <a:srgbClr val="F871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6324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F87171"/>
                </a:solidFill>
              </a:defRPr>
            </a:pPr>
            <a:r>
              <a:t>tirs HTTP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743200"/>
            <a:ext cx="914400" cy="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4206240"/>
            <a:ext cx="2011680" cy="118872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C4B5FD"/>
                </a:solidFill>
              </a:rPr>
              <a:t>Caméra PC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capture du visage opérateur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4206240"/>
            <a:ext cx="2011680" cy="118872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4D399"/>
                </a:solidFill>
              </a:rPr>
              <a:t>ESP8266 (ESP-12F)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COM6 — LED bicolore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21040" y="3840480"/>
            <a:ext cx="0" cy="365760"/>
          </a:xfrm>
          <a:prstGeom prst="line">
            <a:avLst/>
          </a:prstGeom>
          <a:ln w="25400">
            <a:solidFill>
              <a:srgbClr val="C4B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607040" y="3840480"/>
            <a:ext cx="0" cy="36576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4023360"/>
            <a:ext cx="6400800" cy="21945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133088"/>
            <a:ext cx="6071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Garde-fous du périmètre offensif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53712"/>
            <a:ext cx="60716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Cibles autorisées par code : 192.168.137.1 ou 127.0.0.1 uniquement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Refus du réseau campus 10.60.0.0/16, des autres groupes et d'Internet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Plafonds de durée, de débit et de concurrence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Arrêt d'urgence : scenarios/kill_switch.py / fichier sentinelle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ARCHITECTURE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Composants et flux : service métier + boucle de résilience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5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94A3B8"/>
                </a:solidFill>
              </a:rPr>
              <a:t>Clients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PC Attaquant / opérateur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5544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waf-gateway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:8080 — signatures + blocklist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5544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api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:8001 — paiements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5544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Base transactionnelle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SQLite WAL (live)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42976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C4B5FD"/>
                </a:solidFill>
              </a:rPr>
              <a:t>executor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:8005 — seul acteur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2976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BBF24"/>
                </a:solidFill>
              </a:rPr>
              <a:t>remediator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:8004 — automate d'état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2976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BBF24"/>
                </a:solidFill>
              </a:rPr>
              <a:t>detector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:8003 — Isolation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15544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auth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:8002 — JWT HS256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9260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frontend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:3300 — Centre SOC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4297680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C4B5F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C4B5FD"/>
                </a:solidFill>
              </a:rPr>
              <a:t>rag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:8006 — lecture seule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075688"/>
            <a:ext cx="411480" cy="0"/>
          </a:xfrm>
          <a:prstGeom prst="line">
            <a:avLst/>
          </a:prstGeom>
          <a:ln w="25400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17720" y="2075688"/>
            <a:ext cx="502920" cy="0"/>
          </a:xfrm>
          <a:prstGeom prst="line">
            <a:avLst/>
          </a:prstGeom>
          <a:ln w="25400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2075688"/>
            <a:ext cx="502920" cy="0"/>
          </a:xfrm>
          <a:prstGeom prst="line">
            <a:avLst/>
          </a:prstGeom>
          <a:ln w="25400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75120" y="2606040"/>
            <a:ext cx="1371600" cy="169164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0" y="3108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FBBF24"/>
                </a:solidFill>
              </a:defRPr>
            </a:pPr>
            <a:r>
              <a:t>télémétrie (fenêtres 5 s)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949440" y="4818888"/>
            <a:ext cx="502920" cy="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617720" y="4818888"/>
            <a:ext cx="502920" cy="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703320" y="2606040"/>
            <a:ext cx="0" cy="1691640"/>
          </a:xfrm>
          <a:prstGeom prst="line">
            <a:avLst/>
          </a:prstGeom>
          <a:ln w="25400">
            <a:solidFill>
              <a:srgbClr val="C4B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288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C4B5FD"/>
                </a:solidFill>
              </a:defRPr>
            </a:pPr>
            <a:r>
              <a:t>block_ip_waf (HMAC)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35040" y="2606040"/>
            <a:ext cx="0" cy="169164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8076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34D399"/>
                </a:solidFill>
              </a:defRPr>
            </a:pPr>
            <a:r>
              <a:t>sonde métier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6928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100" i="0">
                <a:solidFill>
                  <a:srgbClr val="F1F5F9"/>
                </a:solidFill>
              </a:defRPr>
            </a:pPr>
            <a:r>
              <a:t>Cyan : flux métier  ·  Ambre : détection/décision  ·  Violet : action  ·  Vert : vérification  ·  rag (pointillés) : aucun lien vers executor ni vers le WAF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DÉPLOIEMENT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Deux modes d'exécution — statut réel de chacun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6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Mode live (utilisé pour la démonstration)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515721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Lancement : </a:t>
            </a:r>
            <a:r>
              <a:rPr sz="1300">
                <a:solidFill>
                  <a:srgbClr val="94A3B8"/>
                </a:solidFill>
              </a:rPr>
              <a:t>python -u scripts/run_live_platform.py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Exécution : </a:t>
            </a:r>
            <a:r>
              <a:rPr sz="1300">
                <a:solidFill>
                  <a:srgbClr val="94A3B8"/>
                </a:solidFill>
              </a:rPr>
              <a:t>services Flask sur l'hôte, un port par service (8001 à 8006, 8080, 3300).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Stockage : </a:t>
            </a:r>
            <a:r>
              <a:rPr sz="1300">
                <a:solidFill>
                  <a:srgbClr val="94A3B8"/>
                </a:solidFill>
              </a:rPr>
              <a:t>SQLite en mode WAL, transactions BEGIN IMMEDIATE.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Statut : </a:t>
            </a:r>
            <a:r>
              <a:rPr sz="1300">
                <a:solidFill>
                  <a:srgbClr val="94A3B8"/>
                </a:solidFill>
              </a:rPr>
              <a:t>VÉRIFIÉ — tir 2 PC, répétitions T0→T5, tests automatisés.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64207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Mode Docker Compose (industrialisation)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84831"/>
            <a:ext cx="497433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Fichier : </a:t>
            </a:r>
            <a:r>
              <a:rPr sz="1200">
                <a:solidFill>
                  <a:srgbClr val="94A3B8"/>
                </a:solidFill>
              </a:rPr>
              <a:t>infra/compose/docker-compose.yml — 14 services (postgres, auth, api, waf-gateway, detector, remediator, executor, rag, frontend, prometheus, loki, promtail, grafana, ansible-runner).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Réseaux : </a:t>
            </a:r>
            <a:r>
              <a:rPr sz="1200">
                <a:solidFill>
                  <a:srgbClr val="94A3B8"/>
                </a:solidFill>
              </a:rPr>
              <a:t>edge_net, app_net, data_net (interne), obs_net, control_net (interne).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Statut : </a:t>
            </a:r>
            <a:r>
              <a:rPr sz="1200">
                <a:solidFill>
                  <a:srgbClr val="94A3B8"/>
                </a:solidFill>
              </a:rPr>
              <a:t>syntaxe validée (docker compose config -q : PASS). Démarrage complet de la pile non vérifié (STANDBY_READY).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9788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100" i="0">
                <a:solidFill>
                  <a:srgbClr val="F1F5F9"/>
                </a:solidFill>
              </a:defRPr>
            </a:pPr>
            <a:r>
              <a:t>Conséquence : Prometheus / Loki / Grafana et PostgreSQL sont configurés mais ne font pas partie de la démonstration live vérifiée.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3. SERVICE MÉTIER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Intégrité des paiements : ce qui est garanti par le code et testé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7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Garanties transactionnelles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5157216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Authentification : </a:t>
            </a:r>
            <a:r>
              <a:rPr sz="1300">
                <a:solidFill>
                  <a:srgbClr val="94A3B8"/>
                </a:solidFill>
              </a:rPr>
              <a:t>jetons JWT HS256 émis par auth, contrôle des rôles (RBAC).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Montants : </a:t>
            </a:r>
            <a:r>
              <a:rPr sz="1300">
                <a:solidFill>
                  <a:srgbClr val="94A3B8"/>
                </a:solidFill>
              </a:rPr>
              <a:t>entiers en centimes, aucun flottant.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Idempotence : </a:t>
            </a:r>
            <a:r>
              <a:rPr sz="1300">
                <a:solidFill>
                  <a:srgbClr val="94A3B8"/>
                </a:solidFill>
              </a:rPr>
              <a:t>en-tête Idempotency-Key ; un rejeu ne crée pas de doublon.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Atomicité : </a:t>
            </a:r>
            <a:r>
              <a:rPr sz="1300">
                <a:solidFill>
                  <a:srgbClr val="94A3B8"/>
                </a:solidFill>
              </a:rPr>
              <a:t>écriture BEGIN IMMEDIATE, débit et crédit dans la même transaction.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Invariant comptable : </a:t>
            </a:r>
            <a:r>
              <a:rPr sz="1300">
                <a:solidFill>
                  <a:srgbClr val="94A3B8"/>
                </a:solidFill>
              </a:rPr>
              <a:t>total de 2 750 000 centimes (27 500,00 EUR) sur 5 comptes, vérifié après chaque opération.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64207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Preuves disponibles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84831"/>
            <a:ext cx="4974336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Tests métier : </a:t>
            </a:r>
            <a:r>
              <a:rPr sz="1300">
                <a:solidFill>
                  <a:srgbClr val="94A3B8"/>
                </a:solidFill>
              </a:rPr>
              <a:t>Auth JWT, RBAC, centimes, idempotence, persistance, invariant — PASS.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Persistance : </a:t>
            </a:r>
            <a:r>
              <a:rPr sz="1300">
                <a:solidFill>
                  <a:srgbClr val="94A3B8"/>
                </a:solidFill>
              </a:rPr>
              <a:t>sauvegarde/restauration SQLite WAL vérifiée ; invariant identique avant et après ; idempotence conservée après redémarrage — PASS.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Session opérateur : </a:t>
            </a:r>
            <a:r>
              <a:rPr sz="1300">
                <a:solidFill>
                  <a:srgbClr val="94A3B8"/>
                </a:solidFill>
              </a:rPr>
              <a:t>paiements T0/T5 du tableau de bord refusés sans JWT (401) ou avec jeton falsifié (403), acceptés avec jeton valide (201).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4. CYBERSÉCURITÉ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WAF à deux niveaux et scénarios d'attaque disponibles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8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waf-gateway (moteur Python)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5157216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Niveau 1 — signatures statiques : </a:t>
            </a:r>
            <a:r>
              <a:rPr sz="1200">
                <a:solidFill>
                  <a:srgbClr val="94A3B8"/>
                </a:solidFill>
              </a:rPr>
              <a:t>SQLi (UNION SELECT, tautologies), XSS, Path Traversal, Command Injection.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Niveau 2 — blocage dynamique : </a:t>
            </a:r>
            <a:r>
              <a:rPr sz="1200">
                <a:solidFill>
                  <a:srgbClr val="94A3B8"/>
                </a:solidFill>
              </a:rPr>
              <a:t>dynamic_blocklist alimentée uniquement par executor, TTL de 300 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Profils de débit : </a:t>
            </a:r>
            <a:r>
              <a:rPr sz="1200">
                <a:solidFill>
                  <a:srgbClr val="94A3B8"/>
                </a:solidFill>
              </a:rPr>
              <a:t>normal / strict_mitigation.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IP protégées : </a:t>
            </a:r>
            <a:r>
              <a:rPr sz="1200">
                <a:solidFill>
                  <a:srgbClr val="94A3B8"/>
                </a:solidFill>
              </a:rPr>
              <a:t>liste PROTECTED_IPS non bannissable.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Note : </a:t>
            </a:r>
            <a:r>
              <a:rPr sz="1200">
                <a:solidFill>
                  <a:srgbClr val="94A3B8"/>
                </a:solidFill>
              </a:rPr>
              <a:t>des fichiers nginx/ModSecurity existent dans infra/waf mais ne sont pas utilisés en mode live.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60020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Scénario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Cible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flood_l7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POST /api/v1/transactions/verify-batch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brute_force_auth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POST /auth/v1/token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sqli_xss_injection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verify-batch + charge SQLi/XSS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multi_vector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alternance des 3 vecteurs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4114800"/>
            <a:ext cx="5303520" cy="2103120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i="0">
                <a:solidFill>
                  <a:srgbClr val="F1F5F9"/>
                </a:solidFill>
              </a:defRPr>
            </a:pPr>
            <a:r>
              <a:t>Scénario principal de la démonstration : flood_l7 depuis le PC Attaquant. Charge envoyée : batch_size 30, iterations 40 000, audit_profile deep_verification — l'objectif est d'épuiser les workers, pas de saturer le réseau.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5. INTELLIGENCE ARTIFICIELLE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Détection d'anomalies : Isolation Forest sur 7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9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566928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</a:tblGrid>
              <a:tr h="42062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Variable (fenêtre de 5 s)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Importance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latency_p95_ms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0,188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error_rate_ratio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0,177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tx_success_ratio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0,152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req_rate_rps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0,133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expensive_endpoint_ratio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0,129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cpu_worker_saturation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0,122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unique_ip_entropy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0,099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92240" y="155448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664207"/>
            <a:ext cx="479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Modèle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1" y="2084831"/>
            <a:ext cx="4791455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sklearn IsolationForest + StandardScaler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200 arbres, contamination 0,02, graine fixe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Seuil calibré sur decision_function : -0,1176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Incident confirmé après 2 fenêtres anormales consécutives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02336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4133088"/>
            <a:ext cx="479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Jeux de données (générés, reproductibles)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4553712"/>
            <a:ext cx="47914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Entraînement : 75 sessions / 900 fenêtres, trafic normal uniquement (5 régimes)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Validation : 40 sessions — Test : 48 sessions (dont 18 incidents)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Séparation par session_id, aucune colonne « triche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5. INTELLIGENCE ARTIFICIELLE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Résultats mesurés sur le jeu de test (48 sessions)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10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F1-SCORE (FENÊTRES)</a:t>
            </a:r>
          </a:p>
          <a:p>
            <a:pPr algn="ctr">
              <a:defRPr sz="2600" b="1">
                <a:solidFill>
                  <a:srgbClr val="34D399"/>
                </a:solidFill>
              </a:defRPr>
            </a:pPr>
            <a:r>
              <a:t>0,991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  <a:r>
              <a:t>précision 0,982 — rappel 1,0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SESSIONS D'INCIDENT</a:t>
            </a:r>
          </a:p>
          <a:p>
            <a:pPr algn="ctr">
              <a:defRPr sz="2600" b="1">
                <a:solidFill>
                  <a:srgbClr val="38BDF8"/>
                </a:solidFill>
              </a:defRPr>
            </a:pPr>
            <a:r>
              <a:t>18 / 18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  <a:r>
              <a:t>détectées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FAUSSES ALERTES</a:t>
            </a:r>
          </a:p>
          <a:p>
            <a:pPr algn="ctr">
              <a:defRPr sz="2600" b="1">
                <a:solidFill>
                  <a:srgbClr val="FBBF24"/>
                </a:solidFill>
              </a:defRPr>
            </a:pPr>
            <a:r>
              <a:t>0 / 30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  <a:r>
              <a:t>sessions normales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60020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DÉLAI DE CONFIRMATION</a:t>
            </a:r>
          </a:p>
          <a:p>
            <a:pPr algn="ctr">
              <a:defRPr sz="2600" b="1">
                <a:solidFill>
                  <a:srgbClr val="C4B5FD"/>
                </a:solidFill>
              </a:defRPr>
            </a:pPr>
            <a:r>
              <a:t>10 s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  <a:r>
              <a:t>2 fenêtres de 5 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461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371600"/>
                <a:gridCol w="1188720"/>
                <a:gridCol w="2194560"/>
                <a:gridCol w="1828800"/>
              </a:tblGrid>
              <a:tr h="41148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Modèle comparé (test)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Précision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Rappel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FPR fenêtres normales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Détection sessions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IsolationForest (retenu)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0,982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0,991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0,72 %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OneClassSVM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0,982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0,991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0,72 %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EllipticEnvelope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0,982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0,991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0 %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i="0">
                <a:solidFill>
                  <a:srgbClr val="F1F5F9"/>
                </a:solidFill>
              </a:defRPr>
            </a:pPr>
            <a:r>
              <a:t>Lecture honnête : les trois modèles sont équivalents sur ces données synthétiques. Ces scores ne garantissent pas les performances sur du trafic réel ; un réentraînement sur traces de production serait nécessaire.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6. REMÉDIATION AUTONOME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Automate d'incident et exécuteur confiné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11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4D399"/>
                </a:solidFill>
              </a:rPr>
              <a:t>NORMAL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198424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16352" y="160020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BBF24"/>
                </a:solidFill>
              </a:rPr>
              <a:t>SUSPECT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82312" y="198424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84064" y="160020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87171"/>
                </a:solidFill>
              </a:rPr>
              <a:t>INCIDENT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50023" y="198424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51775" y="160020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C4B5FD"/>
                </a:solidFill>
              </a:rPr>
              <a:t>REMEDIATING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17736" y="1984248"/>
            <a:ext cx="301752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19488" y="160020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4D399"/>
                </a:solidFill>
              </a:rPr>
              <a:t>RECOVERED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69748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87171"/>
                </a:solidFill>
              </a:rPr>
              <a:t>FAILED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arrêt sûr après 3 échecs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2377440"/>
            <a:ext cx="0" cy="320040"/>
          </a:xfrm>
          <a:prstGeom prst="line">
            <a:avLst/>
          </a:prstGeom>
          <a:ln w="25400">
            <a:solidFill>
              <a:srgbClr val="F871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361188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721608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4B5FD"/>
                </a:solidFill>
              </a:defRPr>
            </a:pPr>
            <a:r>
              <a:t>executor : liste fermée (ALLOWLIST)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515721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block_ip_waf / unblock_ip_waf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set_rate_limit_profile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recycle_api_workers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reset_connection_pool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Tout autre ordre est rejeté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11880"/>
            <a:ext cx="5303520" cy="26060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721608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Contrôles de sécurité (testés)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142232"/>
            <a:ext cx="49743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Signature HMAC-SHA256 obligatoire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Anti-rejeu : horodatage ±30 s et command_id unique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Validation stricte des paramètres (Pydantic), refus de toute commande shell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Journal d'audit chaîné SHA-256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Socket Docker jamais monté dans les services applicatifs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6. VÉRIFICATION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La preuve de reprise : une transaction, pas un redémarrage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12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Sonde métier automatique (RecoveryProof)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5157216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Opération : </a:t>
            </a:r>
            <a:r>
              <a:rPr sz="1300">
                <a:solidFill>
                  <a:srgbClr val="94A3B8"/>
                </a:solidFill>
              </a:rPr>
              <a:t>virement de 1,00 EUR depuis le compte ACC-PROBE-SRC, initié par resilience_probe.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Contrôles : </a:t>
            </a:r>
            <a:r>
              <a:rPr sz="1300">
                <a:solidFill>
                  <a:srgbClr val="94A3B8"/>
                </a:solidFill>
              </a:rPr>
              <a:t>API saine, persistance en base, doublon d'idempotence refusé, invariant comptable vérifié.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Exemple réel (19/10/2026) : </a:t>
            </a:r>
            <a:r>
              <a:rPr sz="1300">
                <a:solidFill>
                  <a:srgbClr val="94A3B8"/>
                </a:solidFill>
              </a:rPr>
              <a:t>incident INC-20261019-2CF85F, transaction tx-fc0319d9…, durée totale de la sonde 94 ms.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</a:rPr>
              <a:t>• </a:t>
            </a:r>
            <a:r>
              <a:rPr b="1" sz="1300">
                <a:solidFill>
                  <a:srgbClr val="F1F5F9"/>
                </a:solidFill>
              </a:rPr>
              <a:t>Puis T5 : </a:t>
            </a:r>
            <a:r>
              <a:rPr sz="1300">
                <a:solidFill>
                  <a:srgbClr val="94A3B8"/>
                </a:solidFill>
              </a:rPr>
              <a:t>transaction opérateur de 25,00 EUR depuis le tableau de bord authentifié.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600200"/>
          <a:ext cx="53035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00400"/>
              </a:tblGrid>
              <a:tr h="6858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Ce qui NE suffit PAS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Pourquoi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Conteneur redémarré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ne prouve pas que les paiements passent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/health à 200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répond même sous saturation partielle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IP attaquante bloquée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restaure la disponibilité, pas l'intégrité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Fin d'une compromission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hors périmètre : exigerait isolation, révocation de clés, forensique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5. INTELLIGENCE ARTIFICIELLE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Assistant RAG local : consultatif, sans aucun pouvoir d'action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13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4B5FD"/>
                </a:solidFill>
              </a:defRPr>
            </a:pPr>
            <a:r>
              <a:t>Fonctionnement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5157216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Corpus : </a:t>
            </a:r>
            <a:r>
              <a:rPr sz="1200">
                <a:solidFill>
                  <a:srgbClr val="94A3B8"/>
                </a:solidFill>
              </a:rPr>
              <a:t>documents Markdown de docs/ et AGENTS.md, découpés par sections.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Recherche : </a:t>
            </a:r>
            <a:r>
              <a:rPr sz="1200">
                <a:solidFill>
                  <a:srgbClr val="94A3B8"/>
                </a:solidFill>
              </a:rPr>
              <a:t>TF-IDF (scikit-learn), citations systématiques [Source: fichier#section].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Génération : </a:t>
            </a:r>
            <a:r>
              <a:rPr sz="1200">
                <a:solidFill>
                  <a:srgbClr val="94A3B8"/>
                </a:solidFill>
              </a:rPr>
              <a:t>LangChain + Ollama, modèle gemma4:e4b (8,0 B, Q4_K_M), exécuté localement.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Garde-fou : </a:t>
            </a:r>
            <a:r>
              <a:rPr sz="1200">
                <a:solidFill>
                  <a:srgbClr val="94A3B8"/>
                </a:solidFill>
              </a:rPr>
              <a:t>refus de répondre sous le seuil de similarité ; mode OFFLINE_RETRIEVAL_ONLY si Ollama est arrêté.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Isolation : </a:t>
            </a:r>
            <a:r>
              <a:rPr sz="1200">
                <a:solidFill>
                  <a:srgbClr val="94A3B8"/>
                </a:solidFill>
              </a:rPr>
              <a:t>aucun outil système, aucun client vers executor.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600200"/>
          <a:ext cx="5303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Test (21/10/2026)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Résultat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Procédure de remédiation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réponse citée — 11,5 s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Idempotence du grand livre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réponse « information absente » — 2,1 s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Question hors sujet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refus (sous le seuil) — PASS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Ollama arrêté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repli documentaire vérifié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4343400"/>
            <a:ext cx="5303520" cy="1874519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i="0">
                <a:solidFill>
                  <a:srgbClr val="F1F5F9"/>
                </a:solidFill>
              </a:defRPr>
            </a:pPr>
            <a:r>
              <a:t>Limite observée : sur la question d'idempotence, l'assistant n'a pas retrouvé la bonne section alors que l'information existe dans le code. La recherche TF-IDF reste perfectible.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7. IOT &amp; CONTRÔLE D'ACCÈS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Authentification multifacteur : visage + ESP8266 + mot de passe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14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691640" cy="109728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C4B5FD"/>
                </a:solidFill>
              </a:rPr>
              <a:t>Caméra PC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capture navigateur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2148840"/>
            <a:ext cx="18288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23160" y="1600200"/>
            <a:ext cx="1691640" cy="109728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Détection visage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Haar Cascade OpenCV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148840"/>
            <a:ext cx="18288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600200"/>
            <a:ext cx="1691640" cy="109728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BBF24"/>
                </a:solidFill>
              </a:rPr>
              <a:t>Comparaison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descripteur 128D, seuil 0,75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148840"/>
            <a:ext cx="18288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72200" y="1600200"/>
            <a:ext cx="1691640" cy="109728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4D399"/>
                </a:solidFill>
              </a:rPr>
              <a:t>LED ESP8266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vert clignotant / rouge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2148840"/>
            <a:ext cx="182879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46720" y="1600200"/>
            <a:ext cx="1691640" cy="109728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8BDF8"/>
                </a:solidFill>
              </a:rPr>
              <a:t>Mot de passe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JWT émis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38360" y="2148840"/>
            <a:ext cx="182880" cy="0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21240" y="1600200"/>
            <a:ext cx="1691640" cy="1097280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34D399"/>
                </a:solidFill>
              </a:rPr>
              <a:t>Paiements</a:t>
            </a:r>
          </a:p>
          <a:p>
            <a:pPr algn="ctr"/>
            <a:r>
              <a:rPr sz="1000">
                <a:solidFill>
                  <a:srgbClr val="F1F5F9"/>
                </a:solidFill>
              </a:rPr>
              <a:t>Section T0/T5 déverrouillée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27248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Ce qui est implémenté et vérifié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47872"/>
            <a:ext cx="51572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Descripteur : grille de luminance 8×8 + gradients Sobel 8×8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Rejet si visage absent ou trop proche (&gt; 75 % du cadre)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Essai manuel : même visage ≈ 0,87 ; autre visage ≈ 0,55 (rejeté)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LED : vert clignotant (visage OK), vert fixe 30 s (accès), rouge fixe 30 s, rouge clignotant 10×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Paiements refusés côté serveur sans JWT valide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1752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127248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Limites à assumer devant le jury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547872"/>
            <a:ext cx="49743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Descripteur artisanal, pas un réseau de neurones de reconnaissance faciale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Aucune détection du vivant : une photo pourrait tromper le système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Verrouillage 5 min désactivé pour les essais ; mot de passe de démonstration simplifié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Seul le profil de Rohail ARSHAD est enrôlé avec un vrai visage ; les autres profils sont des références synthétiques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8. DÉMONSTRATION EN DIRECT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Ce que le jury va observer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15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840480"/>
                <a:gridCol w="6035040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Étape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Preuve visible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Accès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Visage + mot de passe opérateur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LED ESP8266, badge de session vert, section paiements déverrouillée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Transaction de 50,00 EUR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ID de transaction COMMITTED, invariant 27 500,00 EUR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Tir flood_l7 depuis 192.168.137.135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Débit et IP source sur le radar IA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Saturation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Latence P95 et taux d'erreur en hausse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Détection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Score sous -0,1176, compteur 2/2, état INCIDENT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Remédiation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IP bannie, réponses 403 côté attaquant, état REMEDIATING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Transaction de 25,00 EUR + sonde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État RECOVERED, nouvelle transaction persistée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9. RÉSULTATS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Mesures réelles et leurs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16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MTTD (RÉPÉTITIONS)</a:t>
            </a:r>
          </a:p>
          <a:p>
            <a:pPr algn="ctr">
              <a:defRPr sz="2600" b="1">
                <a:solidFill>
                  <a:srgbClr val="38BDF8"/>
                </a:solidFill>
              </a:defRPr>
            </a:pPr>
            <a:r>
              <a:t>≈ 10,1 s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  <a:r>
              <a:t>2 fenêtres de 5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MTTR APRÈS DÉTECTION</a:t>
            </a:r>
          </a:p>
          <a:p>
            <a:pPr algn="ctr">
              <a:defRPr sz="2600" b="1">
                <a:solidFill>
                  <a:srgbClr val="34D399"/>
                </a:solidFill>
              </a:defRPr>
            </a:pPr>
            <a:r>
              <a:t>≈ 0,7 s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  <a:r>
              <a:t>remédiation + sonde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LATENCE P95</a:t>
            </a:r>
          </a:p>
          <a:p>
            <a:pPr algn="ctr">
              <a:defRPr sz="2600" b="1">
                <a:solidFill>
                  <a:srgbClr val="FBBF24"/>
                </a:solidFill>
              </a:defRPr>
            </a:pPr>
            <a:r>
              <a:t>≈ 875 → 15 ms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  <a:r>
              <a:t>dégradée → après reprise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60020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TESTS AUTOMATISÉS</a:t>
            </a:r>
          </a:p>
          <a:p>
            <a:pPr algn="ctr">
              <a:defRPr sz="2600" b="1">
                <a:solidFill>
                  <a:srgbClr val="C4B5FD"/>
                </a:solidFill>
              </a:defRPr>
            </a:pPr>
            <a:r>
              <a:t>21 / 21</a:t>
            </a:r>
          </a:p>
          <a:p>
            <a:pPr algn="ctr">
              <a:defRPr sz="1000" b="0">
                <a:solidFill>
                  <a:srgbClr val="F1F5F9"/>
                </a:solidFill>
              </a:defRPr>
            </a:pPr>
            <a:r>
              <a:t>0 échec, 0 erreur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10128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 répétitions chronométrées (22/10/2026)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0752"/>
            <a:ext cx="5157216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Exécutées sur l'hôte, attaquant simulé (IP 192.168.137.45)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3 / 3 PASS : invariant OK, chaîne d'audit valide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Durée totale d'incident ≈ 10,8 s par répétition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12 requêtes attaquantes bloquées après remédiation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00400"/>
            <a:ext cx="5303520" cy="301752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310128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Tir réel depuis le 2e PC (19/10/2026)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730752"/>
            <a:ext cx="4974336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IP 192.168.137.135 bannie (score ML -0,1875), TTL 300 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533 requêtes bloquées par la blocklist dynamique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Sonde de reprise persistée, état RECOVERED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Vidéo chronométrée obligatoire : non encore enregistrée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10. GOUVERNANCE — EBIOS RM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Événements redoutés et mesures du démonstrateur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17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663440"/>
              </a:tblGrid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Événement redouté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Mesure implémentée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ER-01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Indisponibilité prolongée des paiements (saturation L7)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Détection ML + blocage WAF + sonde métier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ER-02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Altération du grand livre / double débit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Centimes entiers, idempotence, atomicité, invariant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ER-03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Détournement de la chaîne de remédiation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ALLOWLIST, HMAC, anti-rejeu, IP protégées, kill switch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ER-04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Falsification du journal d'audit / des preuves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Journal chaîné SHA-256 vérifié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ER-05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Divulgation de secrets ou manipulation du RAG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Chiffrement SOPS-compatible (AES-GCM), scan de secrets, RAG sans outils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100" i="0">
                <a:solidFill>
                  <a:srgbClr val="F1F5F9"/>
                </a:solidFill>
              </a:defRPr>
            </a:pPr>
            <a:r>
              <a:t>Sources de risque étudiées : attaquant externe (déni de service), fraudeur (double dépense), attaquant ciblant l'automatisation AIOps/LLM.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10. GOUVERNANCE — CONTINUITÉ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PCA / PRA : objectifs cibles vs mesures observées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18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754880"/>
                <a:gridCol w="4846320"/>
              </a:tblGrid>
              <a:tr h="73152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Objectif cible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Observé sur le démonstrateur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RTO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≤ 15 s (incident L7) / ≤ 15 min (reconstruction sur hôte de secours)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≈ 10,8 s pour le scénario L7 ; non automatisé pour une panne matérielle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RPO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0 (défaillance applicative) / ≤ 5 min (perte disque)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0 transaction perdue lors des scénarios testés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977639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087368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Couvert par la reprise autonome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507992"/>
            <a:ext cx="51572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Saturation applicative L7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Blocage d'une IP hostile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Recyclage des workers API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Vérification par sonde idempotente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5303520" cy="224028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4087368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Non couvert (escalade humaine)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4507992"/>
            <a:ext cx="497433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Panne matérielle ou corruption du disque du PC hôte unique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Compromission de la base ou fuite de secrets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DDoS volumétrique saturant le lien Wi-Fi en amont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Automate en état FAILED après 3 échecs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10. GOUVERNANCE — RÉGLEMENTATION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NIS2 / DORA : ce que notre travail permet d'aborder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19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A. Démontré techniquement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323697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Détection d'incident TIC basée sur le comportement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Réponse et reprise automatisées et bornées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Traçabilité des actions (audit chaîné)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Test de résilience par tir contrôlé réel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664207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B. Bonnes pratiques appliquées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2084831"/>
            <a:ext cx="323697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Moindre privilège et cloisonnement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Chiffrement des secrets, scan anti-fuite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Analyse de risques EBIOS RM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Distinction objectifs RTO/RPO vs mesures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64207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C. Hors périmètre du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084831"/>
            <a:ext cx="3236976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Gouvernance et responsabilité de la direction (NIS2 art. 20)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Notification des incidents 24 h / 72 h / 1 mois (NIS2 art. 23, DORA chap. III)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Gestion des prestataires TIC tiers (DORA chap. V)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sz="1200">
                <a:solidFill>
                  <a:srgbClr val="F1F5F9"/>
                </a:solidFill>
              </a:rPr>
              <a:t>Redondance multi-sites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9788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100" i="0">
                <a:solidFill>
                  <a:srgbClr val="F1F5F9"/>
                </a:solidFill>
              </a:defRPr>
            </a:pPr>
            <a:r>
              <a:t>Le prototype n'est pas « conforme NIS2/DORA » : il illustre des mesures techniques attendues (NIS2 art. 21, DORA chap. II et IV).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11. LIMITES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Limites connues, documentées sans complaisance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20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7"/>
            <a:ext cx="5157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5157216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Hôte unique : </a:t>
            </a:r>
            <a:r>
              <a:rPr sz="1200">
                <a:solidFill>
                  <a:srgbClr val="94A3B8"/>
                </a:solidFill>
              </a:rPr>
              <a:t>toute la plateforme tourne sur un seul PC (SPOF matériel).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Données ML synthétiques : </a:t>
            </a:r>
            <a:r>
              <a:rPr sz="1200">
                <a:solidFill>
                  <a:srgbClr val="94A3B8"/>
                </a:solidFill>
              </a:rPr>
              <a:t>scores non extrapolables à un trafic réel ; sensibilité au concept drift.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Attaques « low and slow » distribuées : </a:t>
            </a:r>
            <a:r>
              <a:rPr sz="1200">
                <a:solidFill>
                  <a:srgbClr val="94A3B8"/>
                </a:solidFill>
              </a:rPr>
              <a:t>peuvent rester sous le seuil ; le ban par IP devient inefficace (CGNAT, botnet).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DDoS volumétrique L3/L4 : </a:t>
            </a:r>
            <a:r>
              <a:rPr sz="1200">
                <a:solidFill>
                  <a:srgbClr val="94A3B8"/>
                </a:solidFill>
              </a:rPr>
              <a:t>hors de portée d'un WAF local.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466344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64207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Vérifications incomplètes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84831"/>
            <a:ext cx="4974336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Docker Compose : </a:t>
            </a:r>
            <a:r>
              <a:rPr sz="1200">
                <a:solidFill>
                  <a:srgbClr val="94A3B8"/>
                </a:solidFill>
              </a:rPr>
              <a:t>pile complète non démarrée/vérifiée en conditions réelles.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Observabilité : </a:t>
            </a:r>
            <a:r>
              <a:rPr sz="1200">
                <a:solidFill>
                  <a:srgbClr val="94A3B8"/>
                </a:solidFill>
              </a:rPr>
              <a:t>Prometheus/Loki/Grafana configurés mais hors démonstration live.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Vidéo chronométrée : </a:t>
            </a:r>
            <a:r>
              <a:rPr sz="1200">
                <a:solidFill>
                  <a:srgbClr val="94A3B8"/>
                </a:solidFill>
              </a:rPr>
              <a:t>non enregistrée à ce jour.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Biométrie : </a:t>
            </a:r>
            <a:r>
              <a:rPr sz="1200">
                <a:solidFill>
                  <a:srgbClr val="94A3B8"/>
                </a:solidFill>
              </a:rPr>
              <a:t>pas de détection du vivant, descripteur simple.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8BDF8"/>
                </a:solidFill>
              </a:rPr>
              <a:t>• </a:t>
            </a:r>
            <a:r>
              <a:rPr b="1" sz="1200">
                <a:solidFill>
                  <a:srgbClr val="F1F5F9"/>
                </a:solidFill>
              </a:rPr>
              <a:t>RAG : </a:t>
            </a:r>
            <a:r>
              <a:rPr sz="1200">
                <a:solidFill>
                  <a:srgbClr val="94A3B8"/>
                </a:solidFill>
              </a:rPr>
              <a:t>recherche TF-IDF parfois imprécise.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12. PERSPECTIVES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Vers un environnement industriel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21 / 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583680"/>
                <a:gridCol w="3383280"/>
              </a:tblGrid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Priorité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Amélioration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Limite traitée</a:t>
                      </a:r>
                    </a:p>
                  </a:txBody>
                  <a:tcPr marL="73152" marR="73152">
                    <a:solidFill>
                      <a:srgbClr val="101D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Déployer et valider la pile Docker Compose complète avec observabilité Prometheus/Grafana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Vérifications incomplètes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Cluster multi-zones actif/actif + réplication PostgreSQL synchrone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SPOF de l'hôte unique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WAF en bordure (CDN / Anycast), filtrage par jeton ou empreinte TLS plutôt que par IP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DDoS volumétrique, CGNAT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Secrets dans Vault / HSM, rotation automatique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Gestion des clés locale</a:t>
                      </a:r>
                    </a:p>
                  </a:txBody>
                  <a:tcPr marL="73152" marR="73152">
                    <a:solidFill>
                      <a:srgbClr val="121B3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MLOps : réentraînement sur traces réelles, validation humaine des actions destructrices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Données synthétiques, drift</a:t>
                      </a:r>
                    </a:p>
                  </a:txBody>
                  <a:tcPr marL="73152" marR="73152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</a:t>
            </a:r>
          </a:p>
          <a:p>
            <a:pPr>
              <a:defRPr sz="2600" b="1">
                <a:solidFill>
                  <a:srgbClr val="F1F5F9"/>
                </a:solidFill>
              </a:defRPr>
            </a:pPr>
            <a:r>
              <a:t>Ce que nous retenons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PROJECT RESILIENCE-ALPHA — Groupe 2 — Workshop EPSI Bac+5 2026      22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• </a:t>
            </a:r>
            <a:r>
              <a:rPr b="1" sz="1700">
                <a:solidFill>
                  <a:srgbClr val="F1F5F9"/>
                </a:solidFill>
              </a:rPr>
              <a:t>Une boucle fermée fonctionnelle : </a:t>
            </a:r>
            <a:r>
              <a:rPr sz="1700">
                <a:solidFill>
                  <a:srgbClr val="94A3B8"/>
                </a:solidFill>
              </a:rPr>
              <a:t>détection ML, remédiation signée et confinée, preuve de reprise par transaction.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• </a:t>
            </a:r>
            <a:r>
              <a:rPr b="1" sz="1700">
                <a:solidFill>
                  <a:srgbClr val="F1F5F9"/>
                </a:solidFill>
              </a:rPr>
              <a:t>Une exigence de preuve métier : </a:t>
            </a:r>
            <a:r>
              <a:rPr sz="1700">
                <a:solidFill>
                  <a:srgbClr val="94A3B8"/>
                </a:solidFill>
              </a:rPr>
              <a:t>l'état RECOVERED n'est jamais déclaré sur un simple redémarrage.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• </a:t>
            </a:r>
            <a:r>
              <a:rPr b="1" sz="1700">
                <a:solidFill>
                  <a:srgbClr val="F1F5F9"/>
                </a:solidFill>
              </a:rPr>
              <a:t>Une IA à sa juste place : </a:t>
            </a:r>
            <a:r>
              <a:rPr sz="1700">
                <a:solidFill>
                  <a:srgbClr val="94A3B8"/>
                </a:solidFill>
              </a:rPr>
              <a:t>Isolation Forest détecte, l'automate décide, executor agit, le RAG ne fait que conseiller.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8BDF8"/>
                </a:solidFill>
              </a:rPr>
              <a:t>• </a:t>
            </a:r>
            <a:r>
              <a:rPr b="1" sz="1700">
                <a:solidFill>
                  <a:srgbClr val="F1F5F9"/>
                </a:solidFill>
              </a:rPr>
              <a:t>Une transparence assumée : </a:t>
            </a:r>
            <a:r>
              <a:rPr sz="1700">
                <a:solidFill>
                  <a:srgbClr val="94A3B8"/>
                </a:solidFill>
              </a:rPr>
              <a:t>limites et vérifications manquantes documentées, aucune conformité réglementaire revendiquée.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20000"/>
            </a:avLst>
          </a:prstGeom>
          <a:solidFill>
            <a:srgbClr val="101D4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2600" i="0">
                <a:solidFill>
                  <a:srgbClr val="F1F5F9"/>
                </a:solidFill>
              </a:defRPr>
            </a:pPr>
            <a: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