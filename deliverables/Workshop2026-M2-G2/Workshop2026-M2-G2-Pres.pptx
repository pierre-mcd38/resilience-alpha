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ORATEUR (30s) :</a:t>
            </a:r>
          </a:p>
          <a:p>
            <a:r>
              <a:t>Bonjour. Dans le cadre de ce workshop, notre groupe (Lenny, Youssef, Pierre et Rohail) a conçu PROJECT RESILIENCE-ALPHA.</a:t>
            </a:r>
          </a:p>
          <a:p>
            <a:r>
              <a:t>Notre défi n'est pas de faire un simple tableau de bord, mais d'assurer la survie autonome d'une plateforme de paiement sous attaque active lancée depuis un second PC.</a:t>
            </a:r>
          </a:p>
          <a:p>
            <a:r>
              <a:t>Notre principe directeur est le suivant : nous refusons les faux rétablissements. Un conteneur recyclé ou un ping réseau ne suffisent pas pour déclarer un incident clos.</a:t>
            </a:r>
          </a:p>
          <a:p>
            <a:r>
              <a:t>Notre automate de cyber-résilience n'atteint l'état RECOVERED que lorsqu'une transaction financière réelle T5 est validée et inscrite en base avec garantie de conservation des soldes.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ORATEUR (45s) :</a:t>
            </a:r>
          </a:p>
          <a:p>
            <a:r>
              <a:t>Voici notre architecture. Elle répond à une contrainte de sécurité majeure : le confinement absolu.</a:t>
            </a:r>
          </a:p>
          <a:p>
            <a:r>
              <a:t>Le socket Docker n'est monté nulle part dans nos applications. Nos réseaux sont segmentés de manière étanche.</a:t>
            </a:r>
          </a:p>
          <a:p>
            <a:r>
              <a:t>Remarquez la distinction cruciale entre deux briques d'IA : en haut, notre modèle de Machine Learning Isolation Forest qui surveille en permanence 7 variables de trafic pour détecter l'attaque ;</a:t>
            </a:r>
          </a:p>
          <a:p>
            <a:r>
              <a:t>en bas à droite, notre assistant RAG local Ollama qui est un copilote d'aide à la décision purement consultatif.</a:t>
            </a:r>
          </a:p>
          <a:p>
            <a:r>
              <a:t>Le RAG ne peut en aucun cas exécuter d'action système ni commander le WAF. Seul notre composant Executor, verrouillé par signature HMAC et liste blanche fermée, a le pouvoir d'isoler l'attaquant au niveau du WAF.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ORATEUR (20s d'introduction avant 2m10 de démonstration en direct) :</a:t>
            </a:r>
          </a:p>
          <a:p>
            <a:r>
              <a:t>Nous basculons maintenant sur la démonstration en direct.</a:t>
            </a:r>
          </a:p>
          <a:p>
            <a:r>
              <a:t>Sur l'écran principal, vous observez notre Centre de Contrôle SOC relié à l'ESP8266 et au radar ML.</a:t>
            </a:r>
          </a:p>
          <a:p>
            <a:r>
              <a:t>Sur le PC portable secondaire relié en Wi-Fi, nous avons notre console d'attaque.</a:t>
            </a:r>
          </a:p>
          <a:p>
            <a:r>
              <a:t>Nous allons exécuter sous vos yeux la chaîne complète : d'abord la transaction initiale T0,</a:t>
            </a:r>
          </a:p>
          <a:p>
            <a:r>
              <a:t>puis le tir L7 asymétrique depuis le second PC. Vous verrez le radar ML virer à l'alerte,</a:t>
            </a:r>
          </a:p>
          <a:p>
            <a:r>
              <a:t>l'IP attaquante être bannie en quelques secondes au niveau du WAF, et enfin la sonde T5 valider le retour à la normale avec une transaction persistée.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ORATEUR (45s) :</a:t>
            </a:r>
          </a:p>
          <a:p>
            <a:r>
              <a:t>Dans le secteur financier, introduire une remédiation autonome crée un risque de premier ordre : celui que l'automate se retourne contre l'infrastructure bancaire.</a:t>
            </a:r>
          </a:p>
          <a:p>
            <a:r>
              <a:t>Notre démarche EBIOS RM a encadré l'exécuteur : signature cryptographique obligatoire, actions strictement bornées et coupe-circuit d'urgence.</a:t>
            </a:r>
          </a:p>
          <a:p>
            <a:r>
              <a:t>Concernant DORA et NIS2, notre position est claire et rigoureuse : nous démontrons techniquement la capacité à détecter sous 5 secondes et à apporter une preuve de reprise transactionnelle,</a:t>
            </a:r>
          </a:p>
          <a:p>
            <a:r>
              <a:t>mais nous ne prétendons pas à une conformité institutionnelle globale qui nécessiterait une redondance multi-zones et un HSM bancaire certifié.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NOTES ORATEUR (30s) :</a:t>
            </a:r>
          </a:p>
          <a:p>
            <a:r>
              <a:t>Pour conclure, nos métriques sont réelles, vérifiables et mesurables en direct : une détection opérée en moins de 5 secondes et un rétablissement complet prouvé sous 12 secondes.</a:t>
            </a:r>
          </a:p>
          <a:p>
            <a:r>
              <a:t>Nous restons lucides sur les limites de notre prototype de workshop : déployé sur une machine unique, il protège la couche applicative contre des attaques ciblées,</a:t>
            </a:r>
          </a:p>
          <a:p>
            <a:r>
              <a:t>mais nécessiterait une architecture distribuée multi-zones et un HSM pour un passage en production bancaire réelle.</a:t>
            </a:r>
          </a:p>
          <a:p>
            <a:r>
              <a:t>Merci pour votre attention, nous sommes à votre disposition pour vos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PROJECT RESILIENCE-ALPHA — GROUPE 2  |  DIAPOSITIVE 1/5</a:t>
            </a:r>
          </a:p>
          <a:p>
            <a:pPr>
              <a:spcBef>
                <a:spcPts val="400"/>
              </a:spcBef>
              <a:defRPr sz="2200" b="1">
                <a:solidFill>
                  <a:srgbClr val="F1F5F9"/>
                </a:solidFill>
              </a:defRPr>
            </a:pPr>
            <a:r>
              <a:t>Plateforme de Paiement Cyber-Résiliente &amp; Rétablissement Prouvé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0725912" cy="640080"/>
          </a:xfrm>
          <a:prstGeom prst="roundRect">
            <a:avLst/>
          </a:prstGeom>
          <a:solidFill>
            <a:srgbClr val="101D42"/>
          </a:solidFill>
          <a:ln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>
              <a:defRPr sz="1200" i="1">
                <a:solidFill>
                  <a:srgbClr val="F1F5F9"/>
                </a:solidFill>
              </a:defRPr>
            </a:pPr>
            <a:r>
              <a:t>« En production financière, un conteneur qui redémarre ou un endpoint /health à 200 ne prouvent rien : seule une transaction métier intègre valide la fin d'un incident.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31720"/>
            <a:ext cx="3429000" cy="3977639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49631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1. Défi Métier &amp; Déni L7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926080"/>
            <a:ext cx="3063240" cy="324611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1000"/>
              </a:spcAft>
            </a:pPr>
            <a:r>
              <a:rPr b="1" sz="1100">
                <a:solidFill>
                  <a:srgbClr val="F1F5F9"/>
                </a:solidFill>
              </a:rPr>
              <a:t>Asphyxie Applicative L7 :
</a:t>
            </a:r>
            <a:r>
              <a:rPr sz="1050">
                <a:solidFill>
                  <a:srgbClr val="94A3B8"/>
                </a:solidFill>
              </a:rPr>
              <a:t>Tir concentré sur endpoints cryptographiques asymétriques (/verify-batch).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1F5F9"/>
                </a:solidFill>
              </a:rPr>
              <a:t>Angle Mort CPU/Mémoire :
</a:t>
            </a:r>
            <a:r>
              <a:rPr sz="1050">
                <a:solidFill>
                  <a:srgbClr val="94A3B8"/>
                </a:solidFill>
              </a:rPr>
              <a:t>Le conteneur reste 'UP' et répond HTTP 200/504 en dégradé sans crasher.</a:t>
            </a:r>
          </a:p>
          <a:p>
            <a:pPr>
              <a:spcAft>
                <a:spcPts val="1000"/>
              </a:spcAft>
            </a:pPr>
            <a:r>
              <a:rPr b="1" sz="1100">
                <a:solidFill>
                  <a:srgbClr val="F1F5F9"/>
                </a:solidFill>
              </a:rPr>
              <a:t>Impact Financier Direct :
</a:t>
            </a:r>
            <a:r>
              <a:rPr sz="1050">
                <a:solidFill>
                  <a:srgbClr val="94A3B8"/>
                </a:solidFill>
              </a:rPr>
              <a:t>Blocage des encaissements marchands, rupture des SLA bancaires et risque de double dépense.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9976" y="2331720"/>
            <a:ext cx="3429000" cy="3977639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62856" y="249631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2. Boucle Zero-Touch Autonome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62856" y="2926080"/>
            <a:ext cx="3063240" cy="324611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900"/>
              </a:spcAft>
            </a:pPr>
            <a:r>
              <a:rPr b="1" sz="1100">
                <a:solidFill>
                  <a:srgbClr val="F1F5F9"/>
                </a:solidFill>
              </a:rPr>
              <a:t>Observation Télémétrique :
</a:t>
            </a:r>
            <a:r>
              <a:rPr sz="1050">
                <a:solidFill>
                  <a:srgbClr val="94A3B8"/>
                </a:solidFill>
              </a:rPr>
              <a:t>Agrégation toutes les 5 secondes de 7 variables comportementales.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F1F5F9"/>
                </a:solidFill>
              </a:rPr>
              <a:t>Décision par IA ML :
</a:t>
            </a:r>
            <a:r>
              <a:rPr sz="1050">
                <a:solidFill>
                  <a:srgbClr val="94A3B8"/>
                </a:solidFill>
              </a:rPr>
              <a:t>Score d'anomalie Isolation Forest continu avec confirmation sur 2 fenêtres.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F1F5F9"/>
                </a:solidFill>
              </a:rPr>
              <a:t>Remédiation Confinée :
</a:t>
            </a:r>
            <a:r>
              <a:rPr sz="1050">
                <a:solidFill>
                  <a:srgbClr val="94A3B8"/>
                </a:solidFill>
              </a:rPr>
              <a:t>Ordres signés HMAC-SHA256 appliqués au WAF sans élévation de privilèges.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F1F5F9"/>
                </a:solidFill>
              </a:rPr>
              <a:t>Preuve Métier Strictement Exigée :
</a:t>
            </a:r>
            <a:r>
              <a:rPr sz="1050">
                <a:solidFill>
                  <a:srgbClr val="94A3B8"/>
                </a:solidFill>
              </a:rPr>
              <a:t>Injection de la transaction T5 persistée avant de déclarer RECOVERED.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2" y="2331720"/>
            <a:ext cx="3429000" cy="3977639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11312" y="249631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3. Banc d'Essai Réel (2 PC)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11312" y="2926080"/>
            <a:ext cx="3063240" cy="3246119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900"/>
              </a:spcAft>
            </a:pPr>
            <a:r>
              <a:rPr b="1" sz="1100">
                <a:solidFill>
                  <a:srgbClr val="F1F5F9"/>
                </a:solidFill>
              </a:rPr>
              <a:t>Topologie Réseau Dédiée :
</a:t>
            </a:r>
            <a:r>
              <a:rPr sz="1050">
                <a:solidFill>
                  <a:srgbClr val="94A3B8"/>
                </a:solidFill>
              </a:rPr>
              <a:t>Point d'accès Wi-Fi isolé RESILIENCE-G2 (192.168.137.1). Aucun trafic tiers.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F1F5F9"/>
                </a:solidFill>
              </a:rPr>
              <a:t>PC Attaquant Séparé :
</a:t>
            </a:r>
            <a:r>
              <a:rPr sz="1050">
                <a:solidFill>
                  <a:srgbClr val="94A3B8"/>
                </a:solidFill>
              </a:rPr>
              <a:t>Tirs réels exécutés depuis 192.168.137.135 (scripts PowerShell / Python).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F1F5F9"/>
                </a:solidFill>
              </a:rPr>
              <a:t>Habilitation Biométrique :
</a:t>
            </a:r>
            <a:r>
              <a:rPr sz="1050">
                <a:solidFill>
                  <a:srgbClr val="94A3B8"/>
                </a:solidFill>
              </a:rPr>
              <a:t>Caméra PC + IA visage + LED bicolore ESP8266 + mot de passe opérateur.</a:t>
            </a:r>
          </a:p>
          <a:p>
            <a:pPr>
              <a:spcAft>
                <a:spcPts val="900"/>
              </a:spcAft>
            </a:pPr>
            <a:r>
              <a:rPr b="1" sz="1100">
                <a:solidFill>
                  <a:srgbClr val="F1F5F9"/>
                </a:solidFill>
              </a:rPr>
              <a:t>Zéro Simulation Fictive :
</a:t>
            </a:r>
            <a:r>
              <a:rPr sz="1050">
                <a:solidFill>
                  <a:srgbClr val="94A3B8"/>
                </a:solidFill>
              </a:rPr>
              <a:t>Base PostgreSQL réelle, comptes réels, modèle ML réel scikit-learn.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PROJECT RESILIENCE-ALPHA — GROUPE 2  |  DIAPOSITIVE 2/5</a:t>
            </a:r>
          </a:p>
          <a:p>
            <a:pPr>
              <a:spcBef>
                <a:spcPts val="400"/>
              </a:spcBef>
              <a:defRPr sz="2200" b="1">
                <a:solidFill>
                  <a:srgbClr val="F1F5F9"/>
                </a:solidFill>
              </a:defRPr>
            </a:pPr>
            <a:r>
              <a:t>Architecture Confinée &amp; Séparation Stricte des Privilèges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1965960" cy="16916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950" b="1">
                <a:solidFill>
                  <a:srgbClr val="38BDF8"/>
                </a:solidFill>
              </a:defRPr>
            </a:pPr>
            <a:r>
              <a:t>1. TRAFIC INGESTION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</a:defRPr>
            </a:pPr>
            <a:r>
              <a:t>waf-gateway (:8080)</a:t>
            </a:r>
            <a:br/>
            <a:r>
              <a:t>Reverse-Proxy WAF</a:t>
            </a:r>
            <a:br/>
            <a:r>
              <a:t>ModSecurity &amp; Ban IP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16936" y="1463040"/>
            <a:ext cx="1965960" cy="16916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950" b="1">
                <a:solidFill>
                  <a:srgbClr val="F1F5F9"/>
                </a:solidFill>
              </a:defRPr>
            </a:pPr>
            <a:r>
              <a:t>2. COEUR TRANSACTION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</a:defRPr>
            </a:pPr>
            <a:r>
              <a:t>api (:8001) &amp; pgsql</a:t>
            </a:r>
            <a:br/>
            <a:r>
              <a:t>Paiements ACID</a:t>
            </a:r>
            <a:br/>
            <a:r>
              <a:t>Invariant 27 500 €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02352" y="1463040"/>
            <a:ext cx="1965960" cy="16916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950" b="1">
                <a:solidFill>
                  <a:srgbClr val="FBBF24"/>
                </a:solidFill>
              </a:defRPr>
            </a:pPr>
            <a:r>
              <a:t>3. RADAR DÉTECTION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</a:defRPr>
            </a:pPr>
            <a:r>
              <a:t>detector (:8003)</a:t>
            </a:r>
            <a:br/>
            <a:r>
              <a:t>Isolation Forest ML</a:t>
            </a:r>
            <a:br/>
            <a:r>
              <a:t>Seuil calibré -0.1176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87768" y="1463040"/>
            <a:ext cx="1965960" cy="16916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871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950" b="1">
                <a:solidFill>
                  <a:srgbClr val="F87171"/>
                </a:solidFill>
              </a:defRPr>
            </a:pPr>
            <a:r>
              <a:t>4. ORCHESTRATEUR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</a:defRPr>
            </a:pPr>
            <a:r>
              <a:t>remediator (:8004)</a:t>
            </a:r>
            <a:br/>
            <a:r>
              <a:t>Automate d'état strict</a:t>
            </a:r>
            <a:br/>
            <a:r>
              <a:t>NORMAL ➔ RECOVERED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473184" y="1463040"/>
            <a:ext cx="1965960" cy="169164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9728"/>
          <a:lstStyle/>
          <a:p>
            <a:pPr algn="ctr">
              <a:defRPr sz="950" b="1">
                <a:solidFill>
                  <a:srgbClr val="34D399"/>
                </a:solidFill>
              </a:defRPr>
            </a:pPr>
            <a:r>
              <a:t>5. EXÉCUTEUR SÉCURISÉ</a:t>
            </a:r>
          </a:p>
          <a:p>
            <a:pPr>
              <a:spcBef>
                <a:spcPts val="400"/>
              </a:spcBef>
              <a:defRPr sz="880">
                <a:solidFill>
                  <a:srgbClr val="F1F5F9"/>
                </a:solidFill>
              </a:defRPr>
            </a:pPr>
            <a:r>
              <a:t>executor (:8005)</a:t>
            </a:r>
            <a:br/>
            <a:r>
              <a:t>Signature HMAC-SHA256</a:t>
            </a:r>
            <a:br/>
            <a:r>
              <a:t>Allowlist fermée WAF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383280"/>
            <a:ext cx="5248656" cy="29260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47872"/>
            <a:ext cx="488289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Garanties d'Architecture &amp; Cloisonnement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86200"/>
            <a:ext cx="4882896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F1F5F9"/>
                </a:solidFill>
              </a:rPr>
              <a:t>Aucun Socket Docker Exposé : </a:t>
            </a:r>
            <a:r>
              <a:rPr sz="950">
                <a:solidFill>
                  <a:srgbClr val="94A3B8"/>
                </a:solidFill>
              </a:rPr>
              <a:t>Le socket docker.sock n'est JAMAIS monté dans api, waf, frontend, remediator ou rag.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1F5F9"/>
                </a:solidFill>
              </a:rPr>
              <a:t>Cloisonnement Multi-Réseaux : </a:t>
            </a:r>
            <a:r>
              <a:rPr sz="950">
                <a:solidFill>
                  <a:srgbClr val="94A3B8"/>
                </a:solidFill>
              </a:rPr>
              <a:t>5 réseaux Docker distincts (edge_net, app_net, data_net interne, obs_net, control_net).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1F5F9"/>
                </a:solidFill>
              </a:rPr>
              <a:t>Confinement de l'Exécuteur : </a:t>
            </a:r>
            <a:r>
              <a:rPr sz="950">
                <a:solidFill>
                  <a:srgbClr val="94A3B8"/>
                </a:solidFill>
              </a:rPr>
              <a:t>Seul l'exécuteur peut modifier la liste noire WAF, avec journal d'audit immuable SHA-256.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1F5F9"/>
                </a:solidFill>
              </a:rPr>
              <a:t>Gestion des Secrets : </a:t>
            </a:r>
            <a:r>
              <a:rPr sz="950">
                <a:solidFill>
                  <a:srgbClr val="94A3B8"/>
                </a:solidFill>
              </a:rPr>
              <a:t>Chiffrement SOPS + Age (.sops.yaml), scanner statique d'absence de fuites.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383280"/>
            <a:ext cx="5248656" cy="29260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82512" y="3547872"/>
            <a:ext cx="488289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C4B5FD"/>
                </a:solidFill>
              </a:defRPr>
            </a:pPr>
            <a:r>
              <a:t>Séparation Stricte : RAG Local vs Remédiateur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2512" y="3886200"/>
            <a:ext cx="4882896" cy="22860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600"/>
              </a:spcAft>
            </a:pPr>
            <a:r>
              <a:rPr b="1" sz="1000">
                <a:solidFill>
                  <a:srgbClr val="F1F5F9"/>
                </a:solidFill>
              </a:rPr>
              <a:t>Assistant RAG Local (gemma4:e4b) : </a:t>
            </a:r>
            <a:r>
              <a:rPr sz="950">
                <a:solidFill>
                  <a:srgbClr val="94A3B8"/>
                </a:solidFill>
              </a:rPr>
              <a:t>Copilote consultatif confiné. Lit docs/*.md, indexé TF-IDF/LangChain sur Ollama.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1F5F9"/>
                </a:solidFill>
              </a:rPr>
              <a:t>Zéro Privilège Système : </a:t>
            </a:r>
            <a:r>
              <a:rPr sz="950">
                <a:solidFill>
                  <a:srgbClr val="94A3B8"/>
                </a:solidFill>
              </a:rPr>
              <a:t>Le RAG est en lecture seule documentaire absolue : aucun outil OS, aucun accès à l'exécuteur.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1F5F9"/>
                </a:solidFill>
              </a:rPr>
              <a:t>Moteur Automate Déterministe : </a:t>
            </a:r>
            <a:r>
              <a:rPr sz="950">
                <a:solidFill>
                  <a:srgbClr val="94A3B8"/>
                </a:solidFill>
              </a:rPr>
              <a:t>La décision de remédiation appartient exclusivement à la machine d'état (remédiator).</a:t>
            </a:r>
          </a:p>
          <a:p>
            <a:pPr>
              <a:spcAft>
                <a:spcPts val="600"/>
              </a:spcAft>
            </a:pPr>
            <a:r>
              <a:rPr b="1" sz="1000">
                <a:solidFill>
                  <a:srgbClr val="F1F5F9"/>
                </a:solidFill>
              </a:rPr>
              <a:t>Authentification Biométrique (ESP8266) : </a:t>
            </a:r>
            <a:r>
              <a:rPr sz="950">
                <a:solidFill>
                  <a:srgbClr val="94A3B8"/>
                </a:solidFill>
              </a:rPr>
              <a:t>Cycle physique caméra ➔ 128D visage ➔ LED bicolore ➔ jeton JWT opérateur.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PROJECT RESILIENCE-ALPHA — GROUPE 2  |  DIAPOSITIVE 3/5</a:t>
            </a:r>
          </a:p>
          <a:p>
            <a:pPr>
              <a:spcBef>
                <a:spcPts val="400"/>
              </a:spcBef>
              <a:defRPr sz="2200" b="1">
                <a:solidFill>
                  <a:srgbClr val="F1F5F9"/>
                </a:solidFill>
              </a:defRPr>
            </a:pPr>
            <a:r>
              <a:t>Séquence Opérationnelle de Démonstration (T0 ➔ T5)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3429000" cy="2240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T0 : Transaction Initiale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3063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defRPr sz="1000">
                <a:solidFill>
                  <a:srgbClr val="F1F5F9"/>
                </a:solidFill>
              </a:defRPr>
            </a:pPr>
            <a:r>
              <a:t>Paiement nominal de 50,00 EUR émis par l'opérateur habilité. Vérification de l'invariant comptable (27 500,00 EUR) et persistance ACID en base.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79976" y="1463040"/>
            <a:ext cx="3429000" cy="2240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62856" y="16276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T1 : Tir Asymétrique (2e PC)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62856" y="1965960"/>
            <a:ext cx="3063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defRPr sz="1000">
                <a:solidFill>
                  <a:srgbClr val="F1F5F9"/>
                </a:solidFill>
              </a:defRPr>
            </a:pPr>
            <a:r>
              <a:t>Attaque lancée depuis 192.168.137.135 ciblant /api/v1/transactions/verify-batch (charge cryptographique lourde sur 30 lots, 40 000 itérations).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2" y="1463040"/>
            <a:ext cx="3429000" cy="2240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11312" y="162763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BBF24"/>
                </a:solidFill>
              </a:defRPr>
            </a:pPr>
            <a:r>
              <a:t>T2 : Dégradation Observée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11312" y="1965960"/>
            <a:ext cx="3063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defRPr sz="1000">
                <a:solidFill>
                  <a:srgbClr val="F1F5F9"/>
                </a:solidFill>
              </a:defRPr>
            </a:pPr>
            <a:r>
              <a:t>Saturation des workers de l'API. La latence P95 bondit de 12 ms à plus de 250 ms, le débit nominal chute. Métriques collectées par Prometheus.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39"/>
            <a:ext cx="3429000" cy="2240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14223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T3 : Détection ML (Isolation Forest)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80559"/>
            <a:ext cx="3063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defRPr sz="1000">
                <a:solidFill>
                  <a:srgbClr val="F1F5F9"/>
                </a:solidFill>
              </a:defRPr>
            </a:pPr>
            <a:r>
              <a:t>Score d'anomalie franchissant le seuil calibré (-0.1176). Confirmation sur 2 fenêtres glissantes consécutives de 5 secondes. Extraction XAI de l'IP.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79976" y="3977639"/>
            <a:ext cx="3429000" cy="2240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62856" y="414223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C4B5FD"/>
                </a:solidFill>
              </a:defRPr>
            </a:pPr>
            <a:r>
              <a:t>T4 : Remédiation WAF (HMAC)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62856" y="4480559"/>
            <a:ext cx="3063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defRPr sz="1000">
                <a:solidFill>
                  <a:srgbClr val="F1F5F9"/>
                </a:solidFill>
              </a:defRPr>
            </a:pPr>
            <a:r>
              <a:t>Génération du jeton HMAC interne. L'exécuteur inscrit l'IP 192.168.137.135 dans dynamic-blocklist.json. Les tirs suivants sont rejetés en 403 Forbidden.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2" y="3977639"/>
            <a:ext cx="3429000" cy="224028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1312" y="4142231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T5 : Preuve Métier Finale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4480559"/>
            <a:ext cx="3063240" cy="1645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lnSpc>
                <a:spcPct val="115000"/>
              </a:lnSpc>
              <a:defRPr sz="1000">
                <a:solidFill>
                  <a:srgbClr val="F1F5F9"/>
                </a:solidFill>
              </a:defRPr>
            </a:pPr>
            <a:r>
              <a:t>Injection automatique de la sonde transactionnelle (25,00 EUR). Vérification de cohérence du grand livre. Passage certifié de l'automate à l'état RECOVERED.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PROJECT RESILIENCE-ALPHA — GROUPE 2  |  DIAPOSITIVE 4/5</a:t>
            </a:r>
          </a:p>
          <a:p>
            <a:pPr>
              <a:spcBef>
                <a:spcPts val="400"/>
              </a:spcBef>
              <a:defRPr sz="2200" b="1">
                <a:solidFill>
                  <a:srgbClr val="F1F5F9"/>
                </a:solidFill>
              </a:defRPr>
            </a:pPr>
            <a:r>
              <a:t>Analyse de Risques EBIOS RM &amp; Alignement Réglementaire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5248656" cy="48463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27632"/>
            <a:ext cx="488289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8BDF8"/>
                </a:solidFill>
              </a:defRPr>
            </a:pPr>
            <a:r>
              <a:t>Analyse EBIOS RM : Risques Traités &amp; Bornes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4882896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b="1" sz="1050">
                <a:solidFill>
                  <a:srgbClr val="F1F5F9"/>
                </a:solidFill>
              </a:rPr>
              <a:t>Événement Redouté Principal (ER-01) :
</a:t>
            </a:r>
            <a:r>
              <a:rPr sz="950">
                <a:solidFill>
                  <a:srgbClr val="94A3B8"/>
                </a:solidFill>
              </a:rPr>
              <a:t>Déni de service applicatif L7 par épuisement de ressources cryptographiques contournant les protections L3/L4 conventionnelles.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F1F5F9"/>
                </a:solidFill>
              </a:rPr>
              <a:t>Risque Critique de l'Automate (ER-04) :
</a:t>
            </a:r>
            <a:r>
              <a:rPr sz="950">
                <a:solidFill>
                  <a:srgbClr val="94A3B8"/>
                </a:solidFill>
              </a:rPr>
              <a:t>Détournement du remédiateur (auto-déni de service par bannissement d'IP saines, ou boucle infinie de redémarrage de conteneurs).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F1F5F9"/>
                </a:solidFill>
              </a:rPr>
              <a:t>Contre-Mesures Techniques Bornées :
</a:t>
            </a:r>
            <a:r>
              <a:rPr sz="950">
                <a:solidFill>
                  <a:srgbClr val="94A3B8"/>
                </a:solidFill>
              </a:rPr>
              <a:t>• Liste blanche stricte (ALLOWLIST) des actions autorisées.
• Authentification interne des ordres par jeton HMAC-SHA256.
• Coupe-circuit d'urgence (Kill Switch physique/sentinelle).
• Plafond de blocage dynamique à 600 secondes.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F1F5F9"/>
                </a:solidFill>
              </a:rPr>
              <a:t>Frontière PCA / PRA Réaliste :
</a:t>
            </a:r>
            <a:r>
              <a:rPr sz="950">
                <a:solidFill>
                  <a:srgbClr val="94A3B8"/>
                </a:solidFill>
              </a:rPr>
              <a:t>La remédiation autonome résout les blocages applicatifs L7. Elle ne protège PAS contre la destruction matérielle du PC hôte ou la corruption disque.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463040"/>
            <a:ext cx="5248656" cy="484632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627632"/>
            <a:ext cx="488289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C4B5FD"/>
                </a:solidFill>
              </a:defRPr>
            </a:pPr>
            <a:r>
              <a:t>Conformité Européenne : DORA (UE 2022/2554) &amp; NIS2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82512" y="2011680"/>
            <a:ext cx="4882896" cy="411480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b="1" sz="1050">
                <a:solidFill>
                  <a:srgbClr val="F1F5F9"/>
                </a:solidFill>
              </a:rPr>
              <a:t>DORA Chapitre II (Gestion Risques TIC) :
</a:t>
            </a:r>
            <a:r>
              <a:rPr sz="950">
                <a:solidFill>
                  <a:srgbClr val="94A3B8"/>
                </a:solidFill>
              </a:rPr>
              <a:t>Surveillance continue du comportement du trafic, corrélation multi-variables et détection précoce des incidents opérationnels.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F1F5F9"/>
                </a:solidFill>
              </a:rPr>
              <a:t>DORA Chapitre IV (Tests de Résilience) :
</a:t>
            </a:r>
            <a:r>
              <a:rPr sz="950">
                <a:solidFill>
                  <a:srgbClr val="94A3B8"/>
                </a:solidFill>
              </a:rPr>
              <a:t>Validation de la résilience par tirs contrôlés réels depuis un terminal offensif distinct (scénarios TLPT proportionnés).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F1F5F9"/>
                </a:solidFill>
              </a:rPr>
              <a:t>NIS2 Art. 21 (Mesures de Cybersécurité) :
</a:t>
            </a:r>
            <a:r>
              <a:rPr sz="950">
                <a:solidFill>
                  <a:srgbClr val="94A3B8"/>
                </a:solidFill>
              </a:rPr>
              <a:t>Politique de gestion des incidents, chaîne d'audit immuable SHA-256 et séparation étanche des privilèges d'administration.</a:t>
            </a:r>
          </a:p>
          <a:p>
            <a:pPr>
              <a:spcAft>
                <a:spcPts val="800"/>
              </a:spcAft>
            </a:pPr>
            <a:r>
              <a:rPr b="1" sz="1050">
                <a:solidFill>
                  <a:srgbClr val="F1F5F9"/>
                </a:solidFill>
              </a:rPr>
              <a:t>Positionnement d'Ingénierie Honnête :
</a:t>
            </a:r>
            <a:r>
              <a:rPr sz="950">
                <a:solidFill>
                  <a:srgbClr val="94A3B8"/>
                </a:solidFill>
              </a:rPr>
              <a:t>Notre prototype valide les mécanismes techniques de résilience. Il ne constitue pas une conformité organisationnelle complète (qui exigerait HSM certifié FIPS, gouvernance multi-sites et PCA institutionnel).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725912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38BDF8"/>
                </a:solidFill>
              </a:defRPr>
            </a:pPr>
            <a:r>
              <a:t>PROJECT RESILIENCE-ALPHA — GROUPE 2  |  DIAPOSITIVE 5/5</a:t>
            </a:r>
          </a:p>
          <a:p>
            <a:pPr>
              <a:spcBef>
                <a:spcPts val="400"/>
              </a:spcBef>
              <a:defRPr sz="2200" b="1">
                <a:solidFill>
                  <a:srgbClr val="F1F5F9"/>
                </a:solidFill>
              </a:defRPr>
            </a:pPr>
            <a:r>
              <a:t>Métriques Vérifiées, Limites Reconnues &amp; Industrialisation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463040"/>
            <a:ext cx="251460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850" b="1">
                <a:solidFill>
                  <a:srgbClr val="94A3B8"/>
                </a:solidFill>
              </a:defRPr>
            </a:pPr>
            <a:r>
              <a:t>MTTD DÉTECTION</a:t>
            </a:r>
          </a:p>
          <a:p>
            <a:pPr>
              <a:spcBef>
                <a:spcPts val="100"/>
              </a:spcBef>
              <a:defRPr sz="2000" b="1">
                <a:solidFill>
                  <a:srgbClr val="38BDF8"/>
                </a:solidFill>
              </a:defRPr>
            </a:pPr>
            <a:r>
              <a:t>&lt; 5,0 s</a:t>
            </a:r>
          </a:p>
          <a:p>
            <a:pPr>
              <a:spcBef>
                <a:spcPts val="100"/>
              </a:spcBef>
              <a:defRPr sz="800">
                <a:solidFill>
                  <a:srgbClr val="F1F5F9"/>
                </a:solidFill>
              </a:defRPr>
            </a:pPr>
            <a:r>
              <a:t>1 à 2 fenêtres glissantes (5s)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65576" y="1463040"/>
            <a:ext cx="251460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850" b="1">
                <a:solidFill>
                  <a:srgbClr val="94A3B8"/>
                </a:solidFill>
              </a:defRPr>
            </a:pPr>
            <a:r>
              <a:t>MTTR RÉTABLISSEMENT</a:t>
            </a:r>
          </a:p>
          <a:p>
            <a:pPr>
              <a:spcBef>
                <a:spcPts val="100"/>
              </a:spcBef>
              <a:defRPr sz="2000" b="1">
                <a:solidFill>
                  <a:srgbClr val="34D399"/>
                </a:solidFill>
              </a:defRPr>
            </a:pPr>
            <a:r>
              <a:t>8 à 12 s</a:t>
            </a:r>
          </a:p>
          <a:p>
            <a:pPr>
              <a:spcBef>
                <a:spcPts val="100"/>
              </a:spcBef>
              <a:defRPr sz="800">
                <a:solidFill>
                  <a:srgbClr val="F1F5F9"/>
                </a:solidFill>
              </a:defRPr>
            </a:pPr>
            <a:r>
              <a:t>Jusqu'à confirmation T5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99632" y="1463040"/>
            <a:ext cx="251460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850" b="1">
                <a:solidFill>
                  <a:srgbClr val="94A3B8"/>
                </a:solidFill>
              </a:defRPr>
            </a:pPr>
            <a:r>
              <a:t>F1-SCORE ML</a:t>
            </a:r>
          </a:p>
          <a:p>
            <a:pPr>
              <a:spcBef>
                <a:spcPts val="100"/>
              </a:spcBef>
              <a:defRPr sz="2000" b="1">
                <a:solidFill>
                  <a:srgbClr val="FBBF24"/>
                </a:solidFill>
              </a:defRPr>
            </a:pPr>
            <a:r>
              <a:t>0,985</a:t>
            </a:r>
          </a:p>
          <a:p>
            <a:pPr>
              <a:spcBef>
                <a:spcPts val="100"/>
              </a:spcBef>
              <a:defRPr sz="800">
                <a:solidFill>
                  <a:srgbClr val="F1F5F9"/>
                </a:solidFill>
              </a:defRPr>
            </a:pPr>
            <a:r>
              <a:t>Taux de faux positifs &lt; 1,5%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33688" y="1463040"/>
            <a:ext cx="2514600" cy="1188720"/>
          </a:xfrm>
          <a:prstGeom prst="roundRect">
            <a:avLst/>
          </a:prstGeom>
          <a:solidFill>
            <a:srgbClr val="16213E"/>
          </a:solidFill>
          <a:ln w="19050">
            <a:solidFill>
              <a:srgbClr val="F1F5F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defRPr sz="850" b="1">
                <a:solidFill>
                  <a:srgbClr val="94A3B8"/>
                </a:solidFill>
              </a:defRPr>
            </a:pPr>
            <a:r>
              <a:t>INVARIANT COMPTABLE</a:t>
            </a:r>
          </a:p>
          <a:p>
            <a:pPr>
              <a:spcBef>
                <a:spcPts val="100"/>
              </a:spcBef>
              <a:defRPr sz="2000" b="1">
                <a:solidFill>
                  <a:srgbClr val="F1F5F9"/>
                </a:solidFill>
              </a:defRPr>
            </a:pPr>
            <a:r>
              <a:t>100 %</a:t>
            </a:r>
          </a:p>
          <a:p>
            <a:pPr>
              <a:spcBef>
                <a:spcPts val="100"/>
              </a:spcBef>
              <a:defRPr sz="800">
                <a:solidFill>
                  <a:srgbClr val="F1F5F9"/>
                </a:solidFill>
              </a:defRPr>
            </a:pPr>
            <a:r>
              <a:t>27 500,00 € conservés stricts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5248656" cy="34290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44952"/>
            <a:ext cx="488289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F87171"/>
                </a:solidFill>
              </a:defRPr>
            </a:pPr>
            <a:r>
              <a:t>Limites Techniques Identifiées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83280"/>
            <a:ext cx="4882896" cy="2788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b="1" sz="1000">
                <a:solidFill>
                  <a:srgbClr val="F1F5F9"/>
                </a:solidFill>
              </a:rPr>
              <a:t>Hôte Physique Unique :
</a:t>
            </a:r>
            <a:r>
              <a:rPr sz="950">
                <a:solidFill>
                  <a:srgbClr val="94A3B8"/>
                </a:solidFill>
              </a:rPr>
              <a:t>Démonstrateur conteneurisé sur un unique PC hôte. En cas de défaillance matérielle Windows 11, l'ensemble du cluster s'arrête.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F1F5F9"/>
                </a:solidFill>
              </a:rPr>
              <a:t>Attaques Distribuées Low &amp; Slow :
</a:t>
            </a:r>
            <a:r>
              <a:rPr sz="950">
                <a:solidFill>
                  <a:srgbClr val="94A3B8"/>
                </a:solidFill>
              </a:rPr>
              <a:t>Si un botnet émet sous le seuil volumétrique individuel depuis des milliers d'IP distinctes, le ban unitaire d'IP devient inopérant.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F1F5F9"/>
                </a:solidFill>
              </a:rPr>
              <a:t>Dérive Temporelle du Modèle ML :
</a:t>
            </a:r>
            <a:r>
              <a:rPr sz="950">
                <a:solidFill>
                  <a:srgbClr val="94A3B8"/>
                </a:solidFill>
              </a:rPr>
              <a:t>L'Isolation Forest nécessite un réentraînement périodique face aux évolutions des habitudes de paiement légitimes des marchands.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2880360"/>
            <a:ext cx="5248656" cy="3429000"/>
          </a:xfrm>
          <a:prstGeom prst="roundRect">
            <a:avLst/>
          </a:prstGeom>
          <a:solidFill>
            <a:srgbClr val="16213E"/>
          </a:solidFill>
          <a:ln w="12700">
            <a:solidFill>
              <a:srgbClr val="2E40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82512" y="3044952"/>
            <a:ext cx="4882896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00" b="1">
                <a:solidFill>
                  <a:srgbClr val="34D399"/>
                </a:solidFill>
              </a:defRPr>
            </a:pPr>
            <a:r>
              <a:t>Feuille de Route d'Industrialisation (90-180 Jours)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383280"/>
            <a:ext cx="4882896" cy="27889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800"/>
              </a:spcAft>
            </a:pPr>
            <a:r>
              <a:rPr b="1" sz="1000">
                <a:solidFill>
                  <a:srgbClr val="F1F5F9"/>
                </a:solidFill>
              </a:rPr>
              <a:t>Architecture Kubernetes Multi-Zones :
</a:t>
            </a:r>
            <a:r>
              <a:rPr sz="950">
                <a:solidFill>
                  <a:srgbClr val="94A3B8"/>
                </a:solidFill>
              </a:rPr>
              <a:t>Déploiement sur cluster k8s actif/actif multi-régions avec bascule DNS Anycast et réplication synchrone PostgreSQL.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F1F5F9"/>
                </a:solidFill>
              </a:rPr>
              <a:t>WAF en Bordure de Réseau (CDN/Edge) :
</a:t>
            </a:r>
            <a:r>
              <a:rPr sz="950">
                <a:solidFill>
                  <a:srgbClr val="94A3B8"/>
                </a:solidFill>
              </a:rPr>
              <a:t>Déport du filtrage dynamique en bordure de réseau via Cloudflare/Fastly pour encaisser les dénis de service volumétriques.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F1F5F9"/>
                </a:solidFill>
              </a:rPr>
              <a:t>Gestion des Clés sous HSM / Vault :
</a:t>
            </a:r>
            <a:r>
              <a:rPr sz="950">
                <a:solidFill>
                  <a:srgbClr val="94A3B8"/>
                </a:solidFill>
              </a:rPr>
              <a:t>Remplacement des clés locales Age par un module matériel HSM bancaire certifié FIPS 140-3 et rotation dynamique HashiCorp Vault.</a:t>
            </a:r>
          </a:p>
          <a:p>
            <a:pPr>
              <a:spcAft>
                <a:spcPts val="800"/>
              </a:spcAft>
            </a:pPr>
            <a:r>
              <a:rPr b="1" sz="1000">
                <a:solidFill>
                  <a:srgbClr val="F1F5F9"/>
                </a:solidFill>
              </a:rPr>
              <a:t>MLOps avec Human-in-the-Loop :
</a:t>
            </a:r>
            <a:r>
              <a:rPr sz="950">
                <a:solidFill>
                  <a:srgbClr val="94A3B8"/>
                </a:solidFill>
              </a:rPr>
              <a:t>Pipeline supervisé de réapprentissage ML avec validation humaine pour les remédiations destructrices.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